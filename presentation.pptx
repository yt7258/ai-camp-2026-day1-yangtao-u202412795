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模型能否区分“幸存 / 未幸存”？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D0E8"/>
                </a:solidFill>
                <a:latin typeface="微软雅黑"/>
                <a:ea typeface="微软雅黑"/>
              </a:rPr>
              <a:t>D1 · 杨涛 王艺博 · 历史数据教学展项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846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9377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问题</a:t>
            </a:r>
          </a:p>
          <a:p>
            <a:pPr algn="l"/>
            <a:r>
              <a:rPr sz="1600" b="0">
                <a:solidFill>
                  <a:srgbClr val="444444"/>
                </a:solidFill>
                <a:latin typeface="微软雅黑"/>
                <a:ea typeface="微软雅黑"/>
              </a:rPr>
              <a:t>只用乘客记录信息，模型能否区分历史记录中的“幸存”和“未幸存”？</a:t>
            </a:r>
          </a:p>
          <a:p>
            <a:pPr algn="l"/>
            <a:r>
              <a:rPr sz="800" b="0">
                <a:solidFill>
                  <a:srgbClr val="444444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使用者</a:t>
            </a:r>
          </a:p>
          <a:p>
            <a:pPr algn="l"/>
            <a:r>
              <a:rPr sz="1600" b="0">
                <a:solidFill>
                  <a:srgbClr val="444444"/>
                </a:solidFill>
                <a:latin typeface="微软雅黑"/>
                <a:ea typeface="微软雅黑"/>
              </a:rPr>
              <a:t>准备历史展览的博物馆教育团队</a:t>
            </a:r>
          </a:p>
          <a:p>
            <a:pPr algn="l"/>
            <a:r>
              <a:rPr sz="800" b="0">
                <a:solidFill>
                  <a:srgbClr val="444444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真实输入</a:t>
            </a:r>
          </a:p>
          <a:p>
            <a:pPr algn="l"/>
            <a:r>
              <a:rPr sz="1600" b="0">
                <a:solidFill>
                  <a:srgbClr val="444444"/>
                </a:solidFill>
                <a:latin typeface="微软雅黑"/>
                <a:ea typeface="微软雅黑"/>
              </a:rPr>
              <a:t>Kaggle train.csv：891 行、12 列真实乘客记录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任务：二分类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比较多数类基线 vs 固定随机种子随机森林</a:t>
            </a:r>
          </a:p>
          <a:p>
            <a:pPr algn="l"/>
            <a:r>
              <a:rPr sz="800" b="0">
                <a:solidFill>
                  <a:srgbClr val="444444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我们最关心的错误</a:t>
            </a:r>
          </a:p>
          <a:p>
            <a:pPr algn="l"/>
            <a:r>
              <a:rPr sz="1600" b="1">
                <a:solidFill>
                  <a:srgbClr val="E8743C"/>
                </a:solidFill>
                <a:latin typeface="微软雅黑"/>
                <a:ea typeface="微软雅黑"/>
              </a:rPr>
              <a:t>假阴性：真实幸存(1) 却被预测为未幸存(0)</a:t>
            </a:r>
          </a:p>
          <a:p>
            <a:pPr algn="l"/>
            <a:r>
              <a:rPr sz="800" b="0">
                <a:solidFill>
                  <a:srgbClr val="444444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边界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历史观察分析，不是现代救援工具；</a:t>
            </a:r>
          </a:p>
          <a:p>
            <a:pPr algn="l"/>
            <a:r>
              <a:rPr sz="1500" b="1">
                <a:solidFill>
                  <a:srgbClr val="E8743C"/>
                </a:solidFill>
                <a:latin typeface="微软雅黑"/>
                <a:ea typeface="微软雅黑"/>
              </a:rPr>
              <a:t>相关 ≠ 因果。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44444"/>
                </a:solidFill>
                <a:latin typeface="微软雅黑"/>
                <a:ea typeface="微软雅黑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方法：固定划分 + 基线 + 候选流水线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D0E8"/>
                </a:solidFill>
                <a:latin typeface="微软雅黑"/>
                <a:ea typeface="微软雅黑"/>
              </a:rPr>
              <a:t>公平、可复查的实验设计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846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377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真实数据校验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微软雅黑"/>
                <a:ea typeface="微软雅黑"/>
              </a:rPr>
              <a:t>python train.py --check-data</a:t>
            </a:r>
          </a:p>
          <a:p>
            <a:pPr algn="l"/>
            <a:r>
              <a:rPr sz="1600" b="1">
                <a:solidFill>
                  <a:srgbClr val="1F3B63"/>
                </a:solidFill>
                <a:latin typeface="微软雅黑"/>
                <a:ea typeface="微软雅黑"/>
              </a:rPr>
              <a:t>REAL DATA CHECK PASSED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微软雅黑"/>
                <a:ea typeface="微软雅黑"/>
              </a:rPr>
              <a:t>891 行 · {0:549, 1:342} · Age 缺 177</a:t>
            </a:r>
          </a:p>
          <a:p>
            <a:pPr algn="l"/>
            <a:r>
              <a:rPr sz="800" b="0">
                <a:solidFill>
                  <a:srgbClr val="444444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固定划分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种子 42 · 75% 训练 / 25% 留出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测试集 223 人，不参与训练或调参</a:t>
            </a:r>
          </a:p>
          <a:p>
            <a:pPr algn="l"/>
            <a:r>
              <a:rPr sz="800" b="0">
                <a:solidFill>
                  <a:srgbClr val="444444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特征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微软雅黑"/>
                <a:ea typeface="微软雅黑"/>
              </a:rPr>
              <a:t>Pclass · Sex · Age · SibSp · Parch · Fare · Embarked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754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基线：多数类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DummyClassifier(most_frequent)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永远猜最常见的类别“未幸存”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114800"/>
            <a:ext cx="4754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候选：随机森林流水线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RandomForest(n=100, seed=42)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预处理：中位数/最频繁填充 + OneHot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44444"/>
                </a:solidFill>
                <a:latin typeface="微软雅黑"/>
                <a:ea typeface="微软雅黑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关键证据：同一测试集上的公平比较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D0E8"/>
                </a:solidFill>
                <a:latin typeface="微软雅黑"/>
                <a:ea typeface="微软雅黑"/>
              </a:rPr>
              <a:t>223 人留出集 · 种子 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30175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00200"/>
          <a:ext cx="1051559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  <a:gridCol w="3749039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T="50800" marB="50800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基线</a:t>
                      </a:r>
                    </a:p>
                  </a:txBody>
                  <a:tcPr marT="50800" marB="50800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候选</a:t>
                      </a:r>
                    </a:p>
                  </a:txBody>
                  <a:tcPr marT="50800" marB="50800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T="50800" marB="50800">
                    <a:solidFill>
                      <a:srgbClr val="1F3B6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准确率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0.614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0.744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全部预测里猜对的比例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幸存者召回率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8743C"/>
                          </a:solidFill>
                          <a:latin typeface="微软雅黑"/>
                          <a:ea typeface="微软雅黑"/>
                        </a:rPr>
                        <a:t>0.000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0.628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真实幸存者被识别的比例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幸存者 F1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E8743C"/>
                          </a:solidFill>
                          <a:latin typeface="微软雅黑"/>
                          <a:ea typeface="微软雅黑"/>
                        </a:rPr>
                        <a:t>0.000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0.655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精确率与召回率的平衡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假阴性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86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44444"/>
                          </a:solidFill>
                          <a:latin typeface="微软雅黑"/>
                          <a:ea typeface="微软雅黑"/>
                        </a:rPr>
                        <a:t>真实幸存→预测未幸存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663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B63"/>
                </a:solidFill>
                <a:latin typeface="微软雅黑"/>
                <a:ea typeface="微软雅黑"/>
              </a:rPr>
              <a:t>结论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基线召回率 = 0：86 名真实幸存者全部漏掉，完全找不到幸存者；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候选在同一测试集上召回率 0.628、F1 0.655 → 候选更有用。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44444"/>
                </a:solidFill>
                <a:latin typeface="微软雅黑"/>
                <a:ea typeface="微软雅黑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失败、限制与下一问题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D0E8"/>
                </a:solidFill>
                <a:latin typeface="微软雅黑"/>
                <a:ea typeface="微软雅黑"/>
              </a:rPr>
              <a:t>诚实解释模型错在哪里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27432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377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真实失败案例</a:t>
            </a:r>
          </a:p>
          <a:p>
            <a:pPr algn="l"/>
            <a:r>
              <a:rPr sz="1500" b="1">
                <a:solidFill>
                  <a:srgbClr val="E8743C"/>
                </a:solidFill>
                <a:latin typeface="微软雅黑"/>
                <a:ea typeface="微软雅黑"/>
              </a:rPr>
              <a:t>source_row=347 · Davison 夫人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微软雅黑"/>
                <a:ea typeface="微软雅黑"/>
              </a:rPr>
              <a:t>三等舱 · 女性 · Age 缺失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真实幸存(1)，被预测未幸存(0) → 假阴性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754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限制与边界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微软雅黑"/>
                <a:ea typeface="微软雅黑"/>
              </a:rPr>
              <a:t>只覆盖 891 条历史记录；Age 缺失 177 条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微软雅黑"/>
                <a:ea typeface="微软雅黑"/>
              </a:rPr>
              <a:t>数字来自单次固定划分</a:t>
            </a:r>
          </a:p>
          <a:p>
            <a:pPr algn="l"/>
            <a:r>
              <a:rPr sz="1400" b="1">
                <a:solidFill>
                  <a:srgbClr val="E8743C"/>
                </a:solidFill>
                <a:latin typeface="微软雅黑"/>
                <a:ea typeface="微软雅黑"/>
              </a:rPr>
              <a:t>相关 ≠ 因果；不是现代救援工具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110642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B63"/>
                </a:solidFill>
                <a:latin typeface="微软雅黑"/>
                <a:ea typeface="微软雅黑"/>
              </a:rPr>
              <a:t>下一项最小检查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对 Age 缺失做标记或补充后重看召回率；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微软雅黑"/>
                <a:ea typeface="微软雅黑"/>
              </a:rPr>
              <a:t>或用 class_weight 加重假阴性惩罚后再比较基线。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44444"/>
                </a:solidFill>
                <a:latin typeface="微软雅黑"/>
                <a:ea typeface="微软雅黑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